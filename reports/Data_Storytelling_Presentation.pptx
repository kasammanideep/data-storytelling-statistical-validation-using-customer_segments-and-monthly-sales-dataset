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8288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CADCFC"/>
                </a:solidFill>
              </a:rPr>
              <a:t>DATA STORYTELLING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STATISTICAL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 i="1">
                <a:solidFill>
                  <a:srgbClr val="CADCFC"/>
                </a:solidFill>
              </a:rPr>
              <a:t>Website A/B Test Analysis  ·  Sales Growth  ·  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AABBDD"/>
                </a:solidFill>
              </a:rPr>
              <a:t>A complete data-driven business narrative with hypothesis-validated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Prepared for Stakeholder Review  |  2023 Annual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127455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</a:rPr>
              <a:t>This analysis synthesises findings from a website A/B experiment, 12-month sales, and customer segmentation. All 3 hypothesis tests confirmed significance at α = 0.05.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5603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+56.6%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Conversion Rate Lift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463040"/>
            <a:ext cx="25603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2763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17.9%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128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Treatment Conv.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463040"/>
            <a:ext cx="25603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62763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+45.9%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2128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Revenue per User Lift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463040"/>
            <a:ext cx="25603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62763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$784.5K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1284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Total 2023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26080"/>
            <a:ext cx="25603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9067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+135.4%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7588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Jan–Dec Revenue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926080"/>
            <a:ext cx="2560320" cy="132588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80" y="309067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3 /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367588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Hypothesis Tests Passed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926080"/>
            <a:ext cx="25603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309067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7.1×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367588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Premium LTV vs Budget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2926080"/>
            <a:ext cx="256032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090672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CADCFC"/>
                </a:solidFill>
              </a:rPr>
              <a:t>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675888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Users in A/B Experiment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11247120" cy="1463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BUSINESS 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846320"/>
            <a:ext cx="10972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Synthesise analysis into a compelling business narrative using statistical methods to validate key findings — conversion rate, revenue impact, and segment spend.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127455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PART 1 — EXPLORATORY DATA ANALYSIS</a:t>
            </a:r>
          </a:p>
        </p:txBody>
      </p:sp>
      <p:pic>
        <p:nvPicPr>
          <p:cNvPr id="5" name="Picture 4" descr="part1_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713232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594360"/>
            <a:ext cx="4114800" cy="5760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7315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18872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24358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50876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Grew every month in 2023. Q4 surge from $66K→$96.5K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28600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4086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A/B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0604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Treatment shows 56.6% higher conversion rate than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338328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43814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Segments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0332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Premium = 20% of users but highest avg spend of $822/yr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448056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53542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Spend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80060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Right-skewed — small high-value cohort exists in every segment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893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</a:rPr>
              <a:t>Data: 600 users  ·  12 months  ·  400 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127455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PART 2 — DEEP DIVE ANALYSIS</a:t>
            </a:r>
          </a:p>
        </p:txBody>
      </p:sp>
      <p:pic>
        <p:nvPicPr>
          <p:cNvPr id="5" name="Picture 4" descr="part2_deep_d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713232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594360"/>
            <a:ext cx="4114800" cy="5760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73152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18872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24358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Desktop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50876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Highest revenue in Treatment: $25+ avg vs Control $16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28600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34086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Q4 Recovery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60604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After Aug–Sep dip, Oct–Dec surged with 10–20% MoM growth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338328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43814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Premium LTV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0332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Median LTV $4,872 — 7× higher than Budget segment $682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4480560"/>
            <a:ext cx="3794760" cy="2743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4535424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ROAS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800600"/>
            <a:ext cx="374903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Return on Ad Spend improved from 6.3× (Jan) to 6.2× (Dec)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9893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</a:rPr>
              <a:t>Analysis covers revenue, growth trends, and segment LTV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"/>
            <a:ext cx="11274552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PART 3 — HYPOTHESIS TESTING &amp; STATISTICAL VALIDATION</a:t>
            </a:r>
          </a:p>
        </p:txBody>
      </p:sp>
      <p:pic>
        <p:nvPicPr>
          <p:cNvPr id="5" name="Picture 4" descr="part3_hypo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7863840" cy="352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206240"/>
            <a:ext cx="3749039" cy="2240280"/>
          </a:xfrm>
          <a:prstGeom prst="rect">
            <a:avLst/>
          </a:prstGeom>
          <a:solidFill>
            <a:srgbClr val="1E4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29768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TEST 1 · Chi-Squared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68172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H0: p_control = p_treatment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9560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H1: p_treatment &gt; p_control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25780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χ² = 4.4932   p = 0.034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5778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90EE90"/>
                </a:solidFill>
              </a:rPr>
              <a:t>✓ REJECT H0 — Significant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92531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New layout lifted conversion by 56.64%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206240"/>
            <a:ext cx="3749039" cy="2240280"/>
          </a:xfrm>
          <a:prstGeom prst="rect">
            <a:avLst/>
          </a:prstGeom>
          <a:solidFill>
            <a:srgbClr val="1E4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429768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TEST 2 · T-Test (Revenue)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68172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H0: μ_control = μ_treatment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9560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H1: μ_treatment &gt; μ_control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525780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t = 1.8352   p = 0.0335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5778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90EE90"/>
                </a:solidFill>
              </a:rPr>
              <a:t>✓ REJECT H0 — Significant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92531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95% CI: ($-0.32,  $10.31)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4206240"/>
            <a:ext cx="3749039" cy="2240280"/>
          </a:xfrm>
          <a:prstGeom prst="rect">
            <a:avLst/>
          </a:prstGeom>
          <a:solidFill>
            <a:srgbClr val="1E4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297680"/>
            <a:ext cx="3474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TEST 3 · ANOVA (Segments)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68172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H0: μ_prem = μ_std = μ_bud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956048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H1: At least one mean differs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257800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F = 849.5123   p ≈ 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5778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90EE90"/>
                </a:solidFill>
              </a:rPr>
              <a:t>✓ REJECT H0 — Significant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925312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Segments are statistically distinct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92240"/>
            <a:ext cx="1188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All tests run at α = 0.05 significance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CADCFC"/>
                </a:solidFill>
              </a:rPr>
              <a:t>CONCLUSIONS &amp; CALL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94960" cy="5120640"/>
          </a:xfrm>
          <a:prstGeom prst="rect">
            <a:avLst/>
          </a:prstGeom>
          <a:solidFill>
            <a:srgbClr val="0D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WHAT THE DATA SHOWS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73152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New website layout produced a statistically significant +56.6% conversion rate lift (p = 0.034)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13432"/>
            <a:ext cx="73152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95144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Treatment users generated +45.9% more revenue per session than Control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26664"/>
            <a:ext cx="73152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08376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Annual revenue grew 135.4% from Jan to Dec 2023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39896"/>
            <a:ext cx="73152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21608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Customer segments have proven, statistically distinct spending behaviour (F = 849.5, p ≈ 0.000)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53128"/>
            <a:ext cx="73152" cy="32004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434840"/>
            <a:ext cx="4937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Premium customers hold 7× higher LTV than Budget — strong retention ROI opportunity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05840"/>
            <a:ext cx="5577840" cy="5120640"/>
          </a:xfrm>
          <a:prstGeom prst="rect">
            <a:avLst/>
          </a:prstGeom>
          <a:solidFill>
            <a:srgbClr val="2D7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RECOMMENDED 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00200"/>
            <a:ext cx="5166360" cy="548640"/>
          </a:xfrm>
          <a:prstGeom prst="rect">
            <a:avLst/>
          </a:prstGeom>
          <a:solidFill>
            <a:srgbClr val="206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36776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Ship the New Layout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83664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    Roll out to 100% of users immediately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313432"/>
            <a:ext cx="5166360" cy="548640"/>
          </a:xfrm>
          <a:prstGeom prst="rect">
            <a:avLst/>
          </a:prstGeom>
          <a:solidFill>
            <a:srgbClr val="206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35000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Prioritise Desktop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96896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    Desktop Treatment users show highest revenue/session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026664"/>
            <a:ext cx="5166360" cy="548640"/>
          </a:xfrm>
          <a:prstGeom prst="rect">
            <a:avLst/>
          </a:prstGeom>
          <a:solidFill>
            <a:srgbClr val="206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06324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Launch Premium Loyalty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1012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    7× LTV difference justifies targeted retention spend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739896"/>
            <a:ext cx="5166360" cy="548640"/>
          </a:xfrm>
          <a:prstGeom prst="rect">
            <a:avLst/>
          </a:prstGeom>
          <a:solidFill>
            <a:srgbClr val="206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776472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Model Q4 Seasonality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233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    Plan marketing budget for Oct–Dec surge each 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453128"/>
            <a:ext cx="5166360" cy="548640"/>
          </a:xfrm>
          <a:prstGeom prst="rect">
            <a:avLst/>
          </a:prstGeom>
          <a:solidFill>
            <a:srgbClr val="206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489704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▸  Re-run A/B at Full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736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CFFCC"/>
                </a:solidFill>
              </a:rPr>
              <a:t>    Validate with n &gt; 2,000 per group post-launch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1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Data Storytelling &amp; Statistical Validation  ·  All findings validated at α = 0.05  ·  2023 Business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